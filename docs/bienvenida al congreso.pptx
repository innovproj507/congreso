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3"/>
  </p:notesMasterIdLst>
  <p:sldIdLst>
    <p:sldId id="256" r:id="rId2"/>
    <p:sldId id="308" r:id="rId3"/>
    <p:sldId id="261" r:id="rId4"/>
    <p:sldId id="310" r:id="rId5"/>
    <p:sldId id="311" r:id="rId6"/>
    <p:sldId id="304" r:id="rId7"/>
    <p:sldId id="309" r:id="rId8"/>
    <p:sldId id="290" r:id="rId9"/>
    <p:sldId id="305" r:id="rId10"/>
    <p:sldId id="278" r:id="rId11"/>
    <p:sldId id="312" r:id="rId12"/>
  </p:sldIdLst>
  <p:sldSz cx="18288000" cy="10287000"/>
  <p:notesSz cx="6858000" cy="9144000"/>
  <p:embeddedFontLst>
    <p:embeddedFont>
      <p:font typeface="Cabin" pitchFamily="2" charset="77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Lucida Handwriting" panose="03010101010101010101" pitchFamily="66" charset="77"/>
      <p:italic r:id="rId26"/>
    </p:embeddedFont>
    <p:embeddedFont>
      <p:font typeface="Radley" pitchFamily="2" charset="77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  <a:srgbClr val="009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8"/>
    <p:restoredTop sz="94760"/>
  </p:normalViewPr>
  <p:slideViewPr>
    <p:cSldViewPr snapToGrid="0">
      <p:cViewPr varScale="1">
        <p:scale>
          <a:sx n="73" d="100"/>
          <a:sy n="73" d="100"/>
        </p:scale>
        <p:origin x="464" y="192"/>
      </p:cViewPr>
      <p:guideLst>
        <p:guide orient="horz" pos="2160"/>
        <p:guide pos="2880"/>
      </p:guideLst>
    </p:cSldViewPr>
  </p:slideViewPr>
  <p:notesTextViewPr>
    <p:cViewPr>
      <p:scale>
        <a:sx n="105" d="100"/>
        <a:sy n="10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0960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5795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5203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526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4965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3817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782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14804656" y="-157921"/>
            <a:ext cx="3492907" cy="5301476"/>
            <a:chOff x="0" y="-38100"/>
            <a:chExt cx="842700" cy="1279036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842700" cy="1240936"/>
            </a:xfrm>
            <a:custGeom>
              <a:avLst/>
              <a:gdLst/>
              <a:ahLst/>
              <a:cxnLst/>
              <a:rect l="l" t="t" r="r" b="b"/>
              <a:pathLst>
                <a:path w="842700" h="1240936" extrusionOk="0">
                  <a:moveTo>
                    <a:pt x="0" y="0"/>
                  </a:moveTo>
                  <a:lnTo>
                    <a:pt x="842700" y="0"/>
                  </a:lnTo>
                  <a:lnTo>
                    <a:pt x="842700" y="1240936"/>
                  </a:lnTo>
                  <a:lnTo>
                    <a:pt x="0" y="1240936"/>
                  </a:lnTo>
                  <a:close/>
                </a:path>
              </a:pathLst>
            </a:custGeom>
            <a:solidFill>
              <a:srgbClr val="5D3437"/>
            </a:solidFill>
            <a:ln>
              <a:noFill/>
            </a:ln>
          </p:spPr>
        </p:sp>
        <p:sp>
          <p:nvSpPr>
            <p:cNvPr id="18" name="Google Shape;18;p3"/>
            <p:cNvSpPr txBox="1"/>
            <p:nvPr/>
          </p:nvSpPr>
          <p:spPr>
            <a:xfrm>
              <a:off x="0" y="-38100"/>
              <a:ext cx="842700" cy="127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11321311" y="4985579"/>
            <a:ext cx="3483382" cy="5301476"/>
            <a:chOff x="0" y="-38100"/>
            <a:chExt cx="840402" cy="1279036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840402" cy="1240936"/>
            </a:xfrm>
            <a:custGeom>
              <a:avLst/>
              <a:gdLst/>
              <a:ahLst/>
              <a:cxnLst/>
              <a:rect l="l" t="t" r="r" b="b"/>
              <a:pathLst>
                <a:path w="840402" h="1240936" extrusionOk="0">
                  <a:moveTo>
                    <a:pt x="0" y="0"/>
                  </a:moveTo>
                  <a:lnTo>
                    <a:pt x="840402" y="0"/>
                  </a:lnTo>
                  <a:lnTo>
                    <a:pt x="840402" y="1240936"/>
                  </a:lnTo>
                  <a:lnTo>
                    <a:pt x="0" y="1240936"/>
                  </a:lnTo>
                  <a:close/>
                </a:path>
              </a:pathLst>
            </a:custGeom>
            <a:solidFill>
              <a:srgbClr val="B23928"/>
            </a:solidFill>
            <a:ln>
              <a:noFill/>
            </a:ln>
          </p:spPr>
        </p:sp>
        <p:sp>
          <p:nvSpPr>
            <p:cNvPr id="21" name="Google Shape;21;p3"/>
            <p:cNvSpPr txBox="1"/>
            <p:nvPr/>
          </p:nvSpPr>
          <p:spPr>
            <a:xfrm>
              <a:off x="0" y="-38100"/>
              <a:ext cx="840300" cy="127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11814029" y="6227674"/>
            <a:ext cx="2497909" cy="2975151"/>
          </a:xfrm>
          <a:custGeom>
            <a:avLst/>
            <a:gdLst/>
            <a:ahLst/>
            <a:cxnLst/>
            <a:rect l="l" t="t" r="r" b="b"/>
            <a:pathLst>
              <a:path w="2497909" h="2975151" extrusionOk="0">
                <a:moveTo>
                  <a:pt x="0" y="0"/>
                </a:moveTo>
                <a:lnTo>
                  <a:pt x="2497909" y="0"/>
                </a:lnTo>
                <a:lnTo>
                  <a:pt x="2497909" y="2975152"/>
                </a:lnTo>
                <a:lnTo>
                  <a:pt x="0" y="2975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</p:sp>
      <p:grpSp>
        <p:nvGrpSpPr>
          <p:cNvPr id="23" name="Google Shape;23;p3"/>
          <p:cNvGrpSpPr/>
          <p:nvPr/>
        </p:nvGrpSpPr>
        <p:grpSpPr>
          <a:xfrm>
            <a:off x="1368439" y="7534071"/>
            <a:ext cx="7196823" cy="894174"/>
            <a:chOff x="0" y="-38100"/>
            <a:chExt cx="1895447" cy="235501"/>
          </a:xfrm>
        </p:grpSpPr>
        <p:sp>
          <p:nvSpPr>
            <p:cNvPr id="24" name="Google Shape;24;p3"/>
            <p:cNvSpPr/>
            <p:nvPr/>
          </p:nvSpPr>
          <p:spPr>
            <a:xfrm>
              <a:off x="0" y="0"/>
              <a:ext cx="1895447" cy="197401"/>
            </a:xfrm>
            <a:custGeom>
              <a:avLst/>
              <a:gdLst/>
              <a:ahLst/>
              <a:cxnLst/>
              <a:rect l="l" t="t" r="r" b="b"/>
              <a:pathLst>
                <a:path w="1895447" h="197401" extrusionOk="0">
                  <a:moveTo>
                    <a:pt x="0" y="0"/>
                  </a:moveTo>
                  <a:lnTo>
                    <a:pt x="1895447" y="0"/>
                  </a:lnTo>
                  <a:lnTo>
                    <a:pt x="1895447" y="197401"/>
                  </a:lnTo>
                  <a:lnTo>
                    <a:pt x="0" y="197401"/>
                  </a:lnTo>
                  <a:close/>
                </a:path>
              </a:pathLst>
            </a:custGeom>
            <a:solidFill>
              <a:srgbClr val="ABC9D3"/>
            </a:solidFill>
            <a:ln>
              <a:noFill/>
            </a:ln>
          </p:spPr>
        </p:sp>
        <p:sp>
          <p:nvSpPr>
            <p:cNvPr id="25" name="Google Shape;25;p3"/>
            <p:cNvSpPr txBox="1"/>
            <p:nvPr/>
          </p:nvSpPr>
          <p:spPr>
            <a:xfrm>
              <a:off x="0" y="-38100"/>
              <a:ext cx="18954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1368450" y="1858752"/>
            <a:ext cx="8229600" cy="4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0000"/>
              <a:buFont typeface="Radley"/>
              <a:buNone/>
              <a:defRPr sz="10000" i="0" u="none" strike="noStrike" cap="none">
                <a:solidFill>
                  <a:srgbClr val="5D3437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/>
          </p:nvPr>
        </p:nvSpPr>
        <p:spPr>
          <a:xfrm>
            <a:off x="1589900" y="7815028"/>
            <a:ext cx="73905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2500"/>
              <a:buFont typeface="Cabin"/>
              <a:buNone/>
              <a:defRPr sz="25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3"/>
          <p:cNvSpPr>
            <a:spLocks noGrp="1"/>
          </p:cNvSpPr>
          <p:nvPr>
            <p:ph type="pic" idx="3"/>
          </p:nvPr>
        </p:nvSpPr>
        <p:spPr>
          <a:xfrm>
            <a:off x="11321300" y="0"/>
            <a:ext cx="3472500" cy="51483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3"/>
          <p:cNvSpPr>
            <a:spLocks noGrp="1"/>
          </p:cNvSpPr>
          <p:nvPr>
            <p:ph type="pic" idx="4"/>
          </p:nvPr>
        </p:nvSpPr>
        <p:spPr>
          <a:xfrm>
            <a:off x="14814863" y="5141100"/>
            <a:ext cx="3472500" cy="514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B23928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>
            <a:spLocks noGrp="1"/>
          </p:cNvSpPr>
          <p:nvPr>
            <p:ph type="pic" idx="2"/>
          </p:nvPr>
        </p:nvSpPr>
        <p:spPr>
          <a:xfrm>
            <a:off x="318599" y="332250"/>
            <a:ext cx="17650800" cy="96225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2547600" y="3988150"/>
            <a:ext cx="13192800" cy="2178000"/>
          </a:xfrm>
          <a:prstGeom prst="rect">
            <a:avLst/>
          </a:prstGeom>
          <a:solidFill>
            <a:srgbClr val="ABC9D3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0000"/>
              <a:buFont typeface="Radley"/>
              <a:buNone/>
              <a:defRPr sz="10000" i="0" u="none" strike="noStrike" cap="none">
                <a:solidFill>
                  <a:srgbClr val="5D3437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rgbClr val="502B2E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265725" y="276850"/>
            <a:ext cx="17661900" cy="3943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958725" y="5148300"/>
            <a:ext cx="7025100" cy="41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FFF0DA"/>
              </a:buClr>
              <a:buSzPts val="10000"/>
              <a:buFont typeface="Radley"/>
              <a:buNone/>
              <a:defRPr sz="10000" i="0" u="none" strike="noStrike" cap="none">
                <a:solidFill>
                  <a:srgbClr val="FFF0DA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0DA"/>
              </a:buClr>
              <a:buSzPts val="1400"/>
              <a:buNone/>
              <a:defRPr sz="1800">
                <a:solidFill>
                  <a:srgbClr val="FFF0D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0DA"/>
              </a:buClr>
              <a:buSzPts val="1400"/>
              <a:buNone/>
              <a:defRPr sz="1800">
                <a:solidFill>
                  <a:srgbClr val="FFF0D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0DA"/>
              </a:buClr>
              <a:buSzPts val="1400"/>
              <a:buNone/>
              <a:defRPr sz="1800">
                <a:solidFill>
                  <a:srgbClr val="FFF0D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0DA"/>
              </a:buClr>
              <a:buSzPts val="1400"/>
              <a:buNone/>
              <a:defRPr sz="1800">
                <a:solidFill>
                  <a:srgbClr val="FFF0D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0DA"/>
              </a:buClr>
              <a:buSzPts val="1400"/>
              <a:buNone/>
              <a:defRPr sz="1800">
                <a:solidFill>
                  <a:srgbClr val="FFF0D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0DA"/>
              </a:buClr>
              <a:buSzPts val="1400"/>
              <a:buNone/>
              <a:defRPr sz="1800">
                <a:solidFill>
                  <a:srgbClr val="FFF0D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0DA"/>
              </a:buClr>
              <a:buSzPts val="1400"/>
              <a:buNone/>
              <a:defRPr sz="1800">
                <a:solidFill>
                  <a:srgbClr val="FFF0D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0DA"/>
              </a:buClr>
              <a:buSzPts val="1400"/>
              <a:buNone/>
              <a:defRPr sz="1800">
                <a:solidFill>
                  <a:srgbClr val="FFF0DA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11704450" y="5148300"/>
            <a:ext cx="5857800" cy="43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»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7"/>
          <p:cNvGrpSpPr/>
          <p:nvPr/>
        </p:nvGrpSpPr>
        <p:grpSpPr>
          <a:xfrm>
            <a:off x="6224076" y="145100"/>
            <a:ext cx="5846796" cy="4998749"/>
            <a:chOff x="0" y="-38100"/>
            <a:chExt cx="1410600" cy="1206000"/>
          </a:xfrm>
        </p:grpSpPr>
        <p:sp>
          <p:nvSpPr>
            <p:cNvPr id="55" name="Google Shape;55;p7"/>
            <p:cNvSpPr/>
            <p:nvPr/>
          </p:nvSpPr>
          <p:spPr>
            <a:xfrm>
              <a:off x="0" y="0"/>
              <a:ext cx="1410554" cy="1167829"/>
            </a:xfrm>
            <a:custGeom>
              <a:avLst/>
              <a:gdLst/>
              <a:ahLst/>
              <a:cxnLst/>
              <a:rect l="l" t="t" r="r" b="b"/>
              <a:pathLst>
                <a:path w="1410554" h="1167829" extrusionOk="0">
                  <a:moveTo>
                    <a:pt x="0" y="0"/>
                  </a:moveTo>
                  <a:lnTo>
                    <a:pt x="1410554" y="0"/>
                  </a:lnTo>
                  <a:lnTo>
                    <a:pt x="1410554" y="1167829"/>
                  </a:lnTo>
                  <a:lnTo>
                    <a:pt x="0" y="1167829"/>
                  </a:lnTo>
                  <a:close/>
                </a:path>
              </a:pathLst>
            </a:custGeom>
            <a:solidFill>
              <a:srgbClr val="ABC9D3"/>
            </a:solidFill>
            <a:ln>
              <a:noFill/>
            </a:ln>
          </p:spPr>
        </p:sp>
        <p:sp>
          <p:nvSpPr>
            <p:cNvPr id="56" name="Google Shape;56;p7"/>
            <p:cNvSpPr txBox="1"/>
            <p:nvPr/>
          </p:nvSpPr>
          <p:spPr>
            <a:xfrm>
              <a:off x="0" y="-38100"/>
              <a:ext cx="1410600" cy="12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7"/>
          <p:cNvGrpSpPr/>
          <p:nvPr/>
        </p:nvGrpSpPr>
        <p:grpSpPr>
          <a:xfrm>
            <a:off x="393035" y="4976054"/>
            <a:ext cx="5831107" cy="5007980"/>
            <a:chOff x="0" y="-38100"/>
            <a:chExt cx="1406815" cy="1208227"/>
          </a:xfrm>
        </p:grpSpPr>
        <p:sp>
          <p:nvSpPr>
            <p:cNvPr id="58" name="Google Shape;58;p7"/>
            <p:cNvSpPr/>
            <p:nvPr/>
          </p:nvSpPr>
          <p:spPr>
            <a:xfrm>
              <a:off x="0" y="0"/>
              <a:ext cx="1406815" cy="1170127"/>
            </a:xfrm>
            <a:custGeom>
              <a:avLst/>
              <a:gdLst/>
              <a:ahLst/>
              <a:cxnLst/>
              <a:rect l="l" t="t" r="r" b="b"/>
              <a:pathLst>
                <a:path w="1406815" h="1170127" extrusionOk="0">
                  <a:moveTo>
                    <a:pt x="0" y="0"/>
                  </a:moveTo>
                  <a:lnTo>
                    <a:pt x="1406815" y="0"/>
                  </a:lnTo>
                  <a:lnTo>
                    <a:pt x="1406815" y="1170127"/>
                  </a:lnTo>
                  <a:lnTo>
                    <a:pt x="0" y="1170127"/>
                  </a:lnTo>
                  <a:close/>
                </a:path>
              </a:pathLst>
            </a:custGeom>
            <a:solidFill>
              <a:srgbClr val="B23928"/>
            </a:solidFill>
            <a:ln>
              <a:noFill/>
            </a:ln>
          </p:spPr>
        </p:sp>
        <p:sp>
          <p:nvSpPr>
            <p:cNvPr id="59" name="Google Shape;59;p7"/>
            <p:cNvSpPr txBox="1"/>
            <p:nvPr/>
          </p:nvSpPr>
          <p:spPr>
            <a:xfrm>
              <a:off x="0" y="-38100"/>
              <a:ext cx="1406700" cy="12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" name="Google Shape;60;p7"/>
          <p:cNvGrpSpPr/>
          <p:nvPr/>
        </p:nvGrpSpPr>
        <p:grpSpPr>
          <a:xfrm>
            <a:off x="12059521" y="4976054"/>
            <a:ext cx="5835605" cy="5007980"/>
            <a:chOff x="0" y="-38100"/>
            <a:chExt cx="1407900" cy="1208227"/>
          </a:xfrm>
        </p:grpSpPr>
        <p:sp>
          <p:nvSpPr>
            <p:cNvPr id="61" name="Google Shape;61;p7"/>
            <p:cNvSpPr/>
            <p:nvPr/>
          </p:nvSpPr>
          <p:spPr>
            <a:xfrm>
              <a:off x="0" y="0"/>
              <a:ext cx="1407877" cy="1170127"/>
            </a:xfrm>
            <a:custGeom>
              <a:avLst/>
              <a:gdLst/>
              <a:ahLst/>
              <a:cxnLst/>
              <a:rect l="l" t="t" r="r" b="b"/>
              <a:pathLst>
                <a:path w="1407877" h="1170127" extrusionOk="0">
                  <a:moveTo>
                    <a:pt x="0" y="0"/>
                  </a:moveTo>
                  <a:lnTo>
                    <a:pt x="1407877" y="0"/>
                  </a:lnTo>
                  <a:lnTo>
                    <a:pt x="1407877" y="1170127"/>
                  </a:lnTo>
                  <a:lnTo>
                    <a:pt x="0" y="1170127"/>
                  </a:lnTo>
                  <a:close/>
                </a:path>
              </a:pathLst>
            </a:custGeom>
            <a:solidFill>
              <a:srgbClr val="5D3437"/>
            </a:solidFill>
            <a:ln>
              <a:noFill/>
            </a:ln>
          </p:spPr>
        </p:sp>
        <p:sp>
          <p:nvSpPr>
            <p:cNvPr id="62" name="Google Shape;62;p7"/>
            <p:cNvSpPr txBox="1"/>
            <p:nvPr/>
          </p:nvSpPr>
          <p:spPr>
            <a:xfrm>
              <a:off x="0" y="-38100"/>
              <a:ext cx="1407900" cy="12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7"/>
          <p:cNvSpPr>
            <a:spLocks noGrp="1"/>
          </p:cNvSpPr>
          <p:nvPr>
            <p:ph type="pic" idx="2"/>
          </p:nvPr>
        </p:nvSpPr>
        <p:spPr>
          <a:xfrm>
            <a:off x="377275" y="300775"/>
            <a:ext cx="5846700" cy="4847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"/>
          <p:cNvSpPr>
            <a:spLocks noGrp="1"/>
          </p:cNvSpPr>
          <p:nvPr>
            <p:ph type="pic" idx="3"/>
          </p:nvPr>
        </p:nvSpPr>
        <p:spPr>
          <a:xfrm>
            <a:off x="12070625" y="300775"/>
            <a:ext cx="5846700" cy="48474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>
            <a:spLocks noGrp="1"/>
          </p:cNvSpPr>
          <p:nvPr>
            <p:ph type="pic" idx="4"/>
          </p:nvPr>
        </p:nvSpPr>
        <p:spPr>
          <a:xfrm>
            <a:off x="6234863" y="5148175"/>
            <a:ext cx="5846700" cy="4847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6553625" y="666175"/>
            <a:ext cx="5209200" cy="41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»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5"/>
          </p:nvPr>
        </p:nvSpPr>
        <p:spPr>
          <a:xfrm>
            <a:off x="703988" y="5513575"/>
            <a:ext cx="5209200" cy="41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»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6"/>
          </p:nvPr>
        </p:nvSpPr>
        <p:spPr>
          <a:xfrm>
            <a:off x="12372713" y="5513575"/>
            <a:ext cx="5209200" cy="41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»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F0DA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FFF0DA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D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4400"/>
              <a:buFont typeface="Radley"/>
              <a:buNone/>
              <a:defRPr sz="4400" i="0" u="none" strike="noStrike" cap="none">
                <a:solidFill>
                  <a:srgbClr val="5D3437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D3437"/>
              </a:buClr>
              <a:buSzPts val="1400"/>
              <a:buNone/>
              <a:defRPr sz="1800">
                <a:solidFill>
                  <a:srgbClr val="5D3437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–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»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5D3437"/>
              </a:buClr>
              <a:buSzPts val="2000"/>
              <a:buFont typeface="Cabin"/>
              <a:buChar char="•"/>
              <a:defRPr sz="2000" i="0" u="none" strike="noStrike" cap="none">
                <a:solidFill>
                  <a:srgbClr val="5D3437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emf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emf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hyperlink" Target="https://pixabay.com/en/medal-gold-tape-2163195/" TargetMode="External"/><Relationship Id="rId18" Type="http://schemas.openxmlformats.org/officeDocument/2006/relationships/hyperlink" Target="https://www.freestock.com/free-icons/vector-illustration-green-person-vs-dollar-573077473" TargetMode="External"/><Relationship Id="rId3" Type="http://schemas.openxmlformats.org/officeDocument/2006/relationships/image" Target="../media/image21.png"/><Relationship Id="rId7" Type="http://schemas.openxmlformats.org/officeDocument/2006/relationships/hyperlink" Target="https://www.dobleequipovalencia.com/curso/mentoria-colaborativa-caa-autismo/" TargetMode="External"/><Relationship Id="rId12" Type="http://schemas.microsoft.com/office/2007/relationships/hdphoto" Target="../media/hdphoto1.wdp"/><Relationship Id="rId17" Type="http://schemas.microsoft.com/office/2007/relationships/hdphoto" Target="../media/hdphoto2.wdp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hyperlink" Target="https://svgsilh.com/es/image/152024.html" TargetMode="External"/><Relationship Id="rId15" Type="http://schemas.openxmlformats.org/officeDocument/2006/relationships/hyperlink" Target="https://svgsilh.com/es/image/2027503.html" TargetMode="External"/><Relationship Id="rId10" Type="http://schemas.openxmlformats.org/officeDocument/2006/relationships/hyperlink" Target="https://svgsilh.com/es/image/310060.html" TargetMode="External"/><Relationship Id="rId4" Type="http://schemas.openxmlformats.org/officeDocument/2006/relationships/image" Target="../media/image22.svg"/><Relationship Id="rId9" Type="http://schemas.openxmlformats.org/officeDocument/2006/relationships/image" Target="../media/image25.sv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8"/>
          <p:cNvGrpSpPr/>
          <p:nvPr/>
        </p:nvGrpSpPr>
        <p:grpSpPr>
          <a:xfrm>
            <a:off x="14804656" y="-157919"/>
            <a:ext cx="3492869" cy="5301419"/>
            <a:chOff x="0" y="-38100"/>
            <a:chExt cx="842700" cy="1279036"/>
          </a:xfrm>
        </p:grpSpPr>
        <p:sp>
          <p:nvSpPr>
            <p:cNvPr id="74" name="Google Shape;74;p8"/>
            <p:cNvSpPr/>
            <p:nvPr/>
          </p:nvSpPr>
          <p:spPr>
            <a:xfrm>
              <a:off x="0" y="0"/>
              <a:ext cx="842700" cy="1240936"/>
            </a:xfrm>
            <a:custGeom>
              <a:avLst/>
              <a:gdLst/>
              <a:ahLst/>
              <a:cxnLst/>
              <a:rect l="l" t="t" r="r" b="b"/>
              <a:pathLst>
                <a:path w="842700" h="1240936" extrusionOk="0">
                  <a:moveTo>
                    <a:pt x="0" y="0"/>
                  </a:moveTo>
                  <a:lnTo>
                    <a:pt x="842700" y="0"/>
                  </a:lnTo>
                  <a:lnTo>
                    <a:pt x="842700" y="1240936"/>
                  </a:lnTo>
                  <a:lnTo>
                    <a:pt x="0" y="1240936"/>
                  </a:lnTo>
                  <a:close/>
                </a:path>
              </a:pathLst>
            </a:custGeom>
            <a:solidFill>
              <a:srgbClr val="5D3437"/>
            </a:solidFill>
            <a:ln>
              <a:noFill/>
            </a:ln>
          </p:spPr>
        </p:sp>
        <p:sp>
          <p:nvSpPr>
            <p:cNvPr id="75" name="Google Shape;75;p8"/>
            <p:cNvSpPr txBox="1"/>
            <p:nvPr/>
          </p:nvSpPr>
          <p:spPr>
            <a:xfrm>
              <a:off x="0" y="-38100"/>
              <a:ext cx="842700" cy="1279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8"/>
          <p:cNvGrpSpPr/>
          <p:nvPr/>
        </p:nvGrpSpPr>
        <p:grpSpPr>
          <a:xfrm>
            <a:off x="11321311" y="4985581"/>
            <a:ext cx="3483344" cy="5301419"/>
            <a:chOff x="0" y="-38100"/>
            <a:chExt cx="840402" cy="1279036"/>
          </a:xfrm>
        </p:grpSpPr>
        <p:sp>
          <p:nvSpPr>
            <p:cNvPr id="77" name="Google Shape;77;p8"/>
            <p:cNvSpPr/>
            <p:nvPr/>
          </p:nvSpPr>
          <p:spPr>
            <a:xfrm>
              <a:off x="0" y="0"/>
              <a:ext cx="840402" cy="1240936"/>
            </a:xfrm>
            <a:custGeom>
              <a:avLst/>
              <a:gdLst/>
              <a:ahLst/>
              <a:cxnLst/>
              <a:rect l="l" t="t" r="r" b="b"/>
              <a:pathLst>
                <a:path w="840402" h="1240936" extrusionOk="0">
                  <a:moveTo>
                    <a:pt x="0" y="0"/>
                  </a:moveTo>
                  <a:lnTo>
                    <a:pt x="840402" y="0"/>
                  </a:lnTo>
                  <a:lnTo>
                    <a:pt x="840402" y="1240936"/>
                  </a:lnTo>
                  <a:lnTo>
                    <a:pt x="0" y="1240936"/>
                  </a:lnTo>
                  <a:close/>
                </a:path>
              </a:pathLst>
            </a:custGeom>
            <a:solidFill>
              <a:srgbClr val="B23928"/>
            </a:solidFill>
            <a:ln>
              <a:noFill/>
            </a:ln>
          </p:spPr>
        </p:sp>
        <p:sp>
          <p:nvSpPr>
            <p:cNvPr id="78" name="Google Shape;78;p8"/>
            <p:cNvSpPr txBox="1"/>
            <p:nvPr/>
          </p:nvSpPr>
          <p:spPr>
            <a:xfrm>
              <a:off x="0" y="-38100"/>
              <a:ext cx="840402" cy="1279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8"/>
          <p:cNvSpPr/>
          <p:nvPr/>
        </p:nvSpPr>
        <p:spPr>
          <a:xfrm>
            <a:off x="11814029" y="6301153"/>
            <a:ext cx="2497909" cy="2975151"/>
          </a:xfrm>
          <a:custGeom>
            <a:avLst/>
            <a:gdLst/>
            <a:ahLst/>
            <a:cxnLst/>
            <a:rect l="l" t="t" r="r" b="b"/>
            <a:pathLst>
              <a:path w="2497909" h="2975151" extrusionOk="0">
                <a:moveTo>
                  <a:pt x="0" y="0"/>
                </a:moveTo>
                <a:lnTo>
                  <a:pt x="2497909" y="0"/>
                </a:lnTo>
                <a:lnTo>
                  <a:pt x="2497909" y="2975152"/>
                </a:lnTo>
                <a:lnTo>
                  <a:pt x="0" y="2975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</p:sp>
      <p:sp>
        <p:nvSpPr>
          <p:cNvPr id="80" name="Google Shape;80;p8"/>
          <p:cNvSpPr/>
          <p:nvPr/>
        </p:nvSpPr>
        <p:spPr>
          <a:xfrm>
            <a:off x="15255581" y="893766"/>
            <a:ext cx="2581493" cy="2975151"/>
          </a:xfrm>
          <a:custGeom>
            <a:avLst/>
            <a:gdLst/>
            <a:ahLst/>
            <a:cxnLst/>
            <a:rect l="l" t="t" r="r" b="b"/>
            <a:pathLst>
              <a:path w="2581493" h="2975151" extrusionOk="0">
                <a:moveTo>
                  <a:pt x="0" y="0"/>
                </a:moveTo>
                <a:lnTo>
                  <a:pt x="2581493" y="0"/>
                </a:lnTo>
                <a:lnTo>
                  <a:pt x="2581493" y="2975152"/>
                </a:lnTo>
                <a:lnTo>
                  <a:pt x="0" y="2975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</p:sp>
      <p:grpSp>
        <p:nvGrpSpPr>
          <p:cNvPr id="81" name="Google Shape;81;p8"/>
          <p:cNvGrpSpPr/>
          <p:nvPr/>
        </p:nvGrpSpPr>
        <p:grpSpPr>
          <a:xfrm>
            <a:off x="2267121" y="5889848"/>
            <a:ext cx="6533980" cy="1898881"/>
            <a:chOff x="0" y="-38100"/>
            <a:chExt cx="1895447" cy="235501"/>
          </a:xfrm>
          <a:solidFill>
            <a:schemeClr val="bg1">
              <a:alpha val="14000"/>
            </a:schemeClr>
          </a:solidFill>
        </p:grpSpPr>
        <p:sp>
          <p:nvSpPr>
            <p:cNvPr id="82" name="Google Shape;82;p8"/>
            <p:cNvSpPr/>
            <p:nvPr/>
          </p:nvSpPr>
          <p:spPr>
            <a:xfrm>
              <a:off x="0" y="0"/>
              <a:ext cx="1895447" cy="197401"/>
            </a:xfrm>
            <a:custGeom>
              <a:avLst/>
              <a:gdLst/>
              <a:ahLst/>
              <a:cxnLst/>
              <a:rect l="l" t="t" r="r" b="b"/>
              <a:pathLst>
                <a:path w="1895447" h="197401" extrusionOk="0">
                  <a:moveTo>
                    <a:pt x="0" y="0"/>
                  </a:moveTo>
                  <a:lnTo>
                    <a:pt x="1895447" y="0"/>
                  </a:lnTo>
                  <a:lnTo>
                    <a:pt x="1895447" y="197401"/>
                  </a:lnTo>
                  <a:lnTo>
                    <a:pt x="0" y="19740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3" name="Google Shape;83;p8"/>
            <p:cNvSpPr txBox="1"/>
            <p:nvPr/>
          </p:nvSpPr>
          <p:spPr>
            <a:xfrm>
              <a:off x="0" y="-38100"/>
              <a:ext cx="1895447" cy="23550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" name="Google Shape;84;p8"/>
          <p:cNvSpPr txBox="1"/>
          <p:nvPr/>
        </p:nvSpPr>
        <p:spPr>
          <a:xfrm>
            <a:off x="1332448" y="4166299"/>
            <a:ext cx="81153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Radley"/>
                <a:cs typeface="Radley"/>
                <a:sym typeface="Radley"/>
              </a:rPr>
              <a:t>Media Kit</a:t>
            </a:r>
            <a:endParaRPr sz="140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2859713" y="6131537"/>
            <a:ext cx="5060769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Cabin"/>
              </a:rPr>
              <a:t>de Patrocinios y Donaciones</a:t>
            </a:r>
          </a:p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Cabin"/>
              </a:rPr>
              <a:t>55° Congreso Nacional de Pediatría 2027</a:t>
            </a:r>
          </a:p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Cabin"/>
              </a:rPr>
              <a:t>Edición </a:t>
            </a:r>
            <a:r>
              <a:rPr lang="en-US" sz="2400" b="1" i="1" dirty="0">
                <a:solidFill>
                  <a:srgbClr val="00919C"/>
                </a:solidFill>
                <a:latin typeface="Lucida Handwriting" panose="03010101010101010101" pitchFamily="66" charset="77"/>
                <a:sym typeface="Cabin"/>
              </a:rPr>
              <a:t>Esmeralda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ucida Handwriting" panose="03010101010101010101" pitchFamily="66" charset="77"/>
                <a:sym typeface="Cabin"/>
              </a:rPr>
              <a:t>.</a:t>
            </a:r>
            <a:endParaRPr sz="2400" b="1" dirty="0">
              <a:solidFill>
                <a:schemeClr val="tx1">
                  <a:lumMod val="75000"/>
                  <a:lumOff val="25000"/>
                </a:schemeClr>
              </a:solidFill>
              <a:latin typeface="Lucida Handwriting" panose="03010101010101010101" pitchFamily="66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FB5A9A-36A5-C941-847C-8B19C3C78C7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530" y="8474013"/>
            <a:ext cx="1589962" cy="144470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B20E4BE-E41D-4943-B11A-71075D92969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798" t="41999" r="17622" b="-6578"/>
          <a:stretch/>
        </p:blipFill>
        <p:spPr>
          <a:xfrm>
            <a:off x="14804655" y="5143499"/>
            <a:ext cx="3492870" cy="514350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EEC3B43-797F-0244-B571-40956317B0E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2261" y="6241"/>
            <a:ext cx="3492869" cy="51372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2">
            <a:extLst>
              <a:ext uri="{FF2B5EF4-FFF2-40B4-BE49-F238E27FC236}">
                <a16:creationId xmlns:a16="http://schemas.microsoft.com/office/drawing/2014/main" id="{3ECA7D2B-2BD4-154F-94E2-24BD8576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100" y="165615"/>
            <a:ext cx="16473992" cy="9919870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 algn="l"/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br>
              <a:rPr lang="es-PA" sz="2000" dirty="0">
                <a:latin typeface="+mj-lt"/>
              </a:rPr>
            </a:br>
            <a:endParaRPr lang="es-PA" sz="3200" b="1" dirty="0">
              <a:latin typeface="+mj-l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77F0738-7B4F-E74D-8E4B-2721E1D1A8F4}"/>
              </a:ext>
            </a:extLst>
          </p:cNvPr>
          <p:cNvPicPr/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4827" y="506189"/>
            <a:ext cx="3636470" cy="932361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417ED08-7AD9-B348-9416-BAB683FB8068}"/>
              </a:ext>
            </a:extLst>
          </p:cNvPr>
          <p:cNvPicPr/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31727" y="1787979"/>
            <a:ext cx="3722915" cy="7053940"/>
          </a:xfrm>
          <a:prstGeom prst="rect">
            <a:avLst/>
          </a:prstGeom>
        </p:spPr>
      </p:pic>
      <p:sp>
        <p:nvSpPr>
          <p:cNvPr id="14" name="Google Shape;85;p8">
            <a:extLst>
              <a:ext uri="{FF2B5EF4-FFF2-40B4-BE49-F238E27FC236}">
                <a16:creationId xmlns:a16="http://schemas.microsoft.com/office/drawing/2014/main" id="{C53CED56-9196-5240-8382-84B8B0CD44AA}"/>
              </a:ext>
            </a:extLst>
          </p:cNvPr>
          <p:cNvSpPr txBox="1"/>
          <p:nvPr/>
        </p:nvSpPr>
        <p:spPr>
          <a:xfrm>
            <a:off x="4011166" y="208138"/>
            <a:ext cx="13352734" cy="1009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s-PA" sz="2000" dirty="0"/>
              <a:t>Estimados colegas y miembros de la comunidad pediátrica:</a:t>
            </a:r>
          </a:p>
          <a:p>
            <a:pPr algn="just"/>
            <a:endParaRPr lang="es-PA" sz="2000" dirty="0"/>
          </a:p>
          <a:p>
            <a:pPr algn="just"/>
            <a:r>
              <a:rPr lang="es-PA" sz="2000" dirty="0"/>
              <a:t>Es un honor y una gran alegría darles la más cordial bienvenida al </a:t>
            </a:r>
            <a:r>
              <a:rPr lang="es-PA" sz="2000" b="1" dirty="0"/>
              <a:t>55.º Congreso Nacional de Pediatría 2027 Edición Esmeralda</a:t>
            </a:r>
            <a:r>
              <a:rPr lang="es-PA" sz="2000" dirty="0"/>
              <a:t>, un espacio de encuentro que reúne a profesionales comprometidos con la salud, el bienestar y el futuro de nuestros niños, niñas y adolescentes.</a:t>
            </a:r>
          </a:p>
          <a:p>
            <a:pPr algn="just"/>
            <a:endParaRPr lang="es-PA" sz="2000" dirty="0"/>
          </a:p>
          <a:p>
            <a:pPr algn="just"/>
            <a:r>
              <a:rPr lang="es-PA" sz="2000" dirty="0"/>
              <a:t>Este congreso representa una valiosa oportunidad para compartir conocimientos, actualizar nuestras prácticas, intercambiar experiencias y fortalecer los lazos que nos unen como comunidad pediátrica. </a:t>
            </a:r>
          </a:p>
          <a:p>
            <a:pPr algn="just"/>
            <a:endParaRPr lang="es-PA" sz="2000" dirty="0"/>
          </a:p>
          <a:p>
            <a:pPr algn="just"/>
            <a:r>
              <a:rPr lang="es-PA" sz="2000" dirty="0"/>
              <a:t>A través de un programa científico y académico de excelencia, abordaremos los avances, desafíos y nuevas perspectivas que contribuyen a mejorar la atención integral de la población infantil.</a:t>
            </a:r>
          </a:p>
          <a:p>
            <a:pPr algn="just"/>
            <a:endParaRPr lang="es-PA" sz="2000" dirty="0"/>
          </a:p>
          <a:p>
            <a:pPr algn="just"/>
            <a:r>
              <a:rPr lang="es-PA" sz="2000" dirty="0"/>
              <a:t>En esta edición, reafirmamos nuestro compromiso con una pediatría innovadora, humana y basada en la evidencia científica, promoviendo la participación activa de colegas de distintas especialidades y disciplinas.  Creemos firmemente que el trabajo colaborativo, la educación médica continua y el intercambio de ideas son fundamentales para seguir transformando la atención pediátrica en nuestro país.</a:t>
            </a:r>
          </a:p>
          <a:p>
            <a:pPr algn="just"/>
            <a:endParaRPr lang="es-PA" sz="2000" dirty="0"/>
          </a:p>
          <a:p>
            <a:pPr algn="just"/>
            <a:r>
              <a:rPr lang="es-PA" sz="2000" dirty="0"/>
              <a:t>Les invito a ser parte activa de este importante encuentro, a aprovechar cada oportunidad de aprendizaje y a continuar construyendo juntos una comunidad profesional comprometida con la excelencia, la investigación y la defensa de la salud infantil</a:t>
            </a:r>
          </a:p>
          <a:p>
            <a:pPr algn="just"/>
            <a:r>
              <a:rPr lang="es-PA" sz="2000" dirty="0"/>
              <a:t>.</a:t>
            </a:r>
          </a:p>
          <a:p>
            <a:pPr algn="just"/>
            <a:r>
              <a:rPr lang="es-PA" sz="2000" dirty="0"/>
              <a:t>Será un privilegio contar con su presencia y compartir esta experiencia con todos ustedes.</a:t>
            </a:r>
          </a:p>
          <a:p>
            <a:pPr algn="just"/>
            <a:r>
              <a:rPr lang="es-PA" sz="2000" b="1" dirty="0"/>
              <a:t>¡Bienvenidos al 55.º Congreso Nacional de Pediatría 2027!</a:t>
            </a:r>
          </a:p>
          <a:p>
            <a:pPr algn="just"/>
            <a:endParaRPr lang="es-PA" sz="2000" dirty="0"/>
          </a:p>
          <a:p>
            <a:pPr algn="just"/>
            <a:r>
              <a:rPr lang="es-PA" sz="2000" dirty="0"/>
              <a:t>Con aprecio y estima,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sym typeface="Cabin"/>
            </a:endParaRPr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sym typeface="Cabin"/>
            </a:endParaRPr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sym typeface="Cabi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Cabin"/>
              </a:rPr>
              <a:t>Dra. Geraldine Norte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Cabin"/>
              </a:rPr>
              <a:t>Presidenta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Cabin"/>
              </a:rPr>
              <a:t>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Cabin"/>
              </a:rPr>
              <a:t>Sociedad Panameña de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Cabin"/>
              </a:rPr>
              <a:t>Pediatría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Cabin"/>
              </a:rPr>
              <a:t>.</a:t>
            </a:r>
          </a:p>
          <a:p>
            <a:pPr algn="just"/>
            <a:r>
              <a:rPr lang="es-PA" sz="2000" i="1" dirty="0"/>
              <a:t>“Protegiendo el Futuro con Ciencia, Sin Fronteras”.</a:t>
            </a:r>
            <a:endParaRPr lang="es-PA" sz="20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59847DD-A8E5-1842-BD72-A9513FE68722}"/>
              </a:ext>
            </a:extLst>
          </p:cNvPr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11166" y="7870488"/>
            <a:ext cx="2213788" cy="7283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399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1B89413-6070-3946-A2C5-EE72572D2428}"/>
              </a:ext>
            </a:extLst>
          </p:cNvPr>
          <p:cNvSpPr txBox="1"/>
          <p:nvPr/>
        </p:nvSpPr>
        <p:spPr>
          <a:xfrm>
            <a:off x="73961" y="4806579"/>
            <a:ext cx="18173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A" sz="9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EL CONGRESO EN NÚMEROS:  2026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B90B67F-984C-1B40-9106-EA113DE441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259" y="259441"/>
            <a:ext cx="1589962" cy="14447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38D5BA8-AA00-C347-A51D-DE108429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79" y="1125069"/>
            <a:ext cx="17594235" cy="8036861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b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731 PARTICIPANTES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365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Médicos Pediatras 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35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Médicos Generales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33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Enfermeras/Prof. De Salud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197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Estudiantes, Residentes e Internos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101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Líderes de las Industrias en Farmacias, Laboratorios, Hospitales, Comercios, y marcas afines.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br>
              <a:rPr lang="es-PA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br>
              <a:rPr lang="es-PA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Se logró la participación de </a:t>
            </a: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65 marcas patrocinadoras</a:t>
            </a:r>
            <a: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, de las cuales </a:t>
            </a: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41 marcas tuvieron exposición con stands comercial </a:t>
            </a:r>
            <a:r>
              <a:rPr lang="es-PA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y </a:t>
            </a: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24 como socios estratégicos</a:t>
            </a:r>
            <a:r>
              <a:rPr lang="es-PA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. </a:t>
            </a:r>
            <a:br>
              <a:rPr lang="es-PA" sz="4000" dirty="0"/>
            </a:br>
            <a:br>
              <a:rPr lang="es-PA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endParaRPr lang="es-PA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516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38D5BA8-AA00-C347-A51D-DE108429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322" y="424544"/>
            <a:ext cx="16418578" cy="939053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b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¿A QUIÉNES LE LLEGAMOS EN EL 2026?</a:t>
            </a:r>
            <a:b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b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Nuestra audiencia está conformada por una comunidad diversa de profesionales de la salud, especialistas, ejecutivos y tomadores de decisiones.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Profesionales de la salud: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Pediatras, 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Médicos Generales, 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Médicos Residentes e Internos, 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Enfermeras, 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Nutricionistas y Especialistas en Pediatría,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Autismo, Terapia infantil, 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Salud y Seguridad Vial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Dermatología, Oncología, 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Manejo del dolor y 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Salud mental.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Líderes y tomadores de decisiones: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Dueños y directores de clínicas, directores de hospitales públicos, gerentes generales, gerentes de país y líderes de las áreas de ventas y compras.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Sectores empresariales:</a:t>
            </a:r>
            <a:b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Laboratorios, bancos, centros médicos, clínicas pediátricas, industria automotriz, vacunas, y otras industrias relacionadas.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Perfil etario: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Audiencia amplia entre 25 y 65 años.</a:t>
            </a:r>
            <a:br>
              <a:rPr lang="es-PA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br>
              <a:rPr lang="es-PA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endParaRPr lang="es-PA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3043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54BD5B2-42E4-974D-9F7E-6985C771024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474"/>
          <a:stretch/>
        </p:blipFill>
        <p:spPr>
          <a:xfrm>
            <a:off x="9858056" y="3655449"/>
            <a:ext cx="8438340" cy="39188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4BF8B7F-6377-184C-A5C4-D528625BB0D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242"/>
          <a:stretch/>
        </p:blipFill>
        <p:spPr>
          <a:xfrm>
            <a:off x="-53946" y="20492"/>
            <a:ext cx="10791274" cy="514350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CF8E3EC-530A-BA4D-BE6D-1FF23C54681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45793" y="7097575"/>
            <a:ext cx="1894466" cy="316774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C7B1675-CF1A-9346-AD39-2F5202127C2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8056" y="7119257"/>
            <a:ext cx="3887737" cy="316774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7FCA923-1673-4748-AFA9-C1EA3156FC9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773"/>
          <a:stretch/>
        </p:blipFill>
        <p:spPr>
          <a:xfrm>
            <a:off x="-24401" y="5143500"/>
            <a:ext cx="9828512" cy="51435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52EB886-EED0-E843-9C8D-932414C39934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61728" y="21682"/>
            <a:ext cx="5350181" cy="401263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8059CF3-AC2E-4948-9AF9-5A3AF6EF873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136309" y="20492"/>
            <a:ext cx="2151689" cy="3918855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2773808-E7F6-D344-80A7-8C9874BF9EDD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40258" y="7097574"/>
            <a:ext cx="2647739" cy="3193105"/>
          </a:xfrm>
          <a:prstGeom prst="rect">
            <a:avLst/>
          </a:prstGeom>
        </p:spPr>
      </p:pic>
      <p:sp>
        <p:nvSpPr>
          <p:cNvPr id="10" name="Título 4">
            <a:extLst>
              <a:ext uri="{FF2B5EF4-FFF2-40B4-BE49-F238E27FC236}">
                <a16:creationId xmlns:a16="http://schemas.microsoft.com/office/drawing/2014/main" id="{59F6699A-245C-8A41-AC8E-38A3CB07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946" y="4883657"/>
            <a:ext cx="10815673" cy="844571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b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ASÍ VIVIMOS EL CONGRESO EN EL 2026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endParaRPr lang="es-PA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995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1B89413-6070-3946-A2C5-EE72572D2428}"/>
              </a:ext>
            </a:extLst>
          </p:cNvPr>
          <p:cNvSpPr txBox="1"/>
          <p:nvPr/>
        </p:nvSpPr>
        <p:spPr>
          <a:xfrm>
            <a:off x="73961" y="4806579"/>
            <a:ext cx="181737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A" sz="1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2027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B90B67F-984C-1B40-9106-EA113DE441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259" y="259441"/>
            <a:ext cx="1589962" cy="144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28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38D5BA8-AA00-C347-A51D-DE108429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8365" y="2450476"/>
            <a:ext cx="8346878" cy="4151444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CONCEPTO</a:t>
            </a:r>
            <a:br>
              <a:rPr lang="es-PA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br>
              <a:rPr lang="es-PA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Seguimos construyendo nuestro concepto </a:t>
            </a:r>
            <a:r>
              <a:rPr lang="es-PA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FUTURO</a:t>
            </a:r>
            <a: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reafirmando el compromiso de proteger y contribuir a una mejor calidad de vida para nuestros niños, a través de la medicina. 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Este año, damos un paso más, convocando otras especialidades e invitando colegas de la región a ser parte de este gran encuentro.  Porque la ciencia no tiene fronteras cuando unimos conocimientos y experiencias por un mismo propósito:</a:t>
            </a: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br>
              <a:rPr lang="es-PA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</a:br>
            <a:r>
              <a:rPr lang="es-PA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“Protegiendo el Futuro con Ciencia, Sin Fronteras</a:t>
            </a:r>
            <a:r>
              <a:rPr lang="es-PA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”.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FD298F-8CB3-1445-A68A-D53707811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23414" cy="1027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27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3"/>
          <p:cNvGrpSpPr/>
          <p:nvPr/>
        </p:nvGrpSpPr>
        <p:grpSpPr>
          <a:xfrm>
            <a:off x="162088" y="438829"/>
            <a:ext cx="8686005" cy="3581563"/>
            <a:chOff x="0" y="-38100"/>
            <a:chExt cx="3500731" cy="43535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68" name="Google Shape;168;p13"/>
            <p:cNvSpPr/>
            <p:nvPr/>
          </p:nvSpPr>
          <p:spPr>
            <a:xfrm>
              <a:off x="0" y="0"/>
              <a:ext cx="3500731" cy="397256"/>
            </a:xfrm>
            <a:custGeom>
              <a:avLst/>
              <a:gdLst/>
              <a:ahLst/>
              <a:cxnLst/>
              <a:rect l="l" t="t" r="r" b="b"/>
              <a:pathLst>
                <a:path w="3500731" h="397256" extrusionOk="0">
                  <a:moveTo>
                    <a:pt x="0" y="0"/>
                  </a:moveTo>
                  <a:lnTo>
                    <a:pt x="3500731" y="0"/>
                  </a:lnTo>
                  <a:lnTo>
                    <a:pt x="3500731" y="397256"/>
                  </a:lnTo>
                  <a:lnTo>
                    <a:pt x="0" y="39725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9" name="Google Shape;169;p13"/>
            <p:cNvSpPr txBox="1"/>
            <p:nvPr/>
          </p:nvSpPr>
          <p:spPr>
            <a:xfrm>
              <a:off x="0" y="-38100"/>
              <a:ext cx="3500731" cy="43535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3"/>
          <p:cNvSpPr txBox="1"/>
          <p:nvPr/>
        </p:nvSpPr>
        <p:spPr>
          <a:xfrm>
            <a:off x="630958" y="1861434"/>
            <a:ext cx="7827242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9199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Megapolis Convention Center (Ave. Balboa)</a:t>
            </a:r>
          </a:p>
          <a:p>
            <a:pPr marR="0" lvl="0" rtl="0">
              <a:lnSpc>
                <a:spcPct val="9199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Jueves 17 al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sábado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 19 de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junio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 de 2027.</a:t>
            </a:r>
          </a:p>
          <a:p>
            <a:pPr marR="0" lvl="0" rtl="0">
              <a:lnSpc>
                <a:spcPct val="91999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sym typeface="Radley"/>
            </a:endParaRPr>
          </a:p>
          <a:p>
            <a:pPr marL="342900" marR="0" lvl="0" indent="-342900" rtl="0">
              <a:lnSpc>
                <a:spcPct val="919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700+ médicos</a:t>
            </a:r>
          </a:p>
          <a:p>
            <a:pPr marL="342900" marR="0" lvl="0" indent="-342900" rtl="0">
              <a:lnSpc>
                <a:spcPct val="919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4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salones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 de conferencia</a:t>
            </a:r>
          </a:p>
          <a:p>
            <a:pPr marL="342900" marR="0" lvl="0" indent="-342900" rtl="0">
              <a:lnSpc>
                <a:spcPct val="919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Expo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Médica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sym typeface="Radley"/>
            </a:endParaRPr>
          </a:p>
          <a:p>
            <a:pPr marL="342900" marR="0" lvl="0" indent="-342900" rtl="0">
              <a:lnSpc>
                <a:spcPct val="919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Espacios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 de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interacción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sym typeface="Radley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05499E-1980-4C46-923B-A1CE7A63D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37160"/>
            <a:ext cx="8758626" cy="49148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9A24BA-5F67-A24B-9EFB-01D027E11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89" y="4197269"/>
            <a:ext cx="8686005" cy="57906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D8B7737-D6F0-964A-954C-318F53822C3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8300" y="5143500"/>
            <a:ext cx="8758626" cy="492672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D0E2980-D3DD-D443-BDB8-C961161C6F82}"/>
              </a:ext>
            </a:extLst>
          </p:cNvPr>
          <p:cNvSpPr txBox="1"/>
          <p:nvPr/>
        </p:nvSpPr>
        <p:spPr>
          <a:xfrm>
            <a:off x="435015" y="327931"/>
            <a:ext cx="59849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9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EL VENUE</a:t>
            </a:r>
          </a:p>
        </p:txBody>
      </p:sp>
    </p:spTree>
    <p:extLst>
      <p:ext uri="{BB962C8B-B14F-4D97-AF65-F5344CB8AC3E}">
        <p14:creationId xmlns:p14="http://schemas.microsoft.com/office/powerpoint/2010/main" val="1279704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9F97C5-8938-CE4F-9587-90AC694C4AD0}"/>
              </a:ext>
            </a:extLst>
          </p:cNvPr>
          <p:cNvSpPr txBox="1"/>
          <p:nvPr/>
        </p:nvSpPr>
        <p:spPr>
          <a:xfrm>
            <a:off x="57150" y="4561650"/>
            <a:ext cx="18173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A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¿POR QUÉ SER ALIADO O PATROCINADOR?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2E1032F-86AB-6C41-88F0-428BAFA881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259" y="259441"/>
            <a:ext cx="1589962" cy="144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45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38D5BA8-AA00-C347-A51D-DE108429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35" y="823155"/>
            <a:ext cx="16704129" cy="878477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TU APOYO HACE POSIBLE:</a:t>
            </a:r>
            <a:b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br>
              <a:rPr lang="es-PA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PA" altLang="es-PA" sz="3200" dirty="0">
                <a:solidFill>
                  <a:schemeClr val="tx1"/>
                </a:solidFill>
                <a:latin typeface="Arial" panose="020B0604020202020204" pitchFamily="34" charset="0"/>
              </a:rPr>
              <a:t>   </a:t>
            </a:r>
            <a: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 Educación médica contínua</a:t>
            </a:r>
            <a:b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</a:br>
            <a:b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</a:br>
            <a: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      </a:t>
            </a:r>
            <a: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 Intercambio científico</a:t>
            </a:r>
            <a:b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</a:br>
            <a:b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</a:br>
            <a: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      </a:t>
            </a:r>
            <a: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 Formación de nuevas generaciones</a:t>
            </a:r>
            <a:b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</a:br>
            <a:b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</a:br>
            <a: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      </a:t>
            </a:r>
            <a: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 Reconocimiento al talento</a:t>
            </a:r>
            <a:b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</a:br>
            <a:b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</a:br>
            <a: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      </a:t>
            </a:r>
            <a: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 Conexión regional y networking </a:t>
            </a:r>
            <a:b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</a:br>
            <a:b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</a:br>
            <a:r>
              <a:rPr lang="es-PA" altLang="es-PA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      </a:t>
            </a:r>
            <a: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 Innovación</a:t>
            </a:r>
            <a:b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</a:br>
            <a:b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</a:br>
            <a:r>
              <a:rPr lang="es-PA" altLang="es-PA" sz="2000" dirty="0">
                <a:solidFill>
                  <a:srgbClr val="222222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Los Aliados por el Futuro, son y serán quienes hacen posible, este gran evento.</a:t>
            </a:r>
            <a:endParaRPr lang="es-PA" sz="2000" i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98C62F2-FFC7-DB42-B00B-4F1F0E651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8527"/>
            <a:ext cx="49244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A" altLang="es-P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PA" altLang="es-P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</a:t>
            </a:r>
            <a:endParaRPr kumimoji="0" lang="es-PA" altLang="es-P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Gráfico 8" descr="SVG &gt; graduación voluta diploma pergamino - Imagen e icono gratis de ...">
            <a:extLst>
              <a:ext uri="{FF2B5EF4-FFF2-40B4-BE49-F238E27FC236}">
                <a16:creationId xmlns:a16="http://schemas.microsoft.com/office/drawing/2014/main" id="{155C640F-E894-7D4D-A56F-E0F3AE902B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b="40163"/>
          <a:stretch/>
        </p:blipFill>
        <p:spPr>
          <a:xfrm>
            <a:off x="6935263" y="3855056"/>
            <a:ext cx="653740" cy="391181"/>
          </a:xfrm>
          <a:prstGeom prst="rect">
            <a:avLst/>
          </a:prstGeom>
        </p:spPr>
      </p:pic>
      <p:pic>
        <p:nvPicPr>
          <p:cNvPr id="15" name="Imagen 14" descr="Mentoría colaborativa CAA y autismo - Doble Equipo">
            <a:extLst>
              <a:ext uri="{FF2B5EF4-FFF2-40B4-BE49-F238E27FC236}">
                <a16:creationId xmlns:a16="http://schemas.microsoft.com/office/drawing/2014/main" id="{11C21775-8EB9-AF4A-8B69-3A8E55BE901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556995" y="5004520"/>
            <a:ext cx="477333" cy="477333"/>
          </a:xfrm>
          <a:prstGeom prst="rect">
            <a:avLst/>
          </a:prstGeom>
        </p:spPr>
      </p:pic>
      <p:pic>
        <p:nvPicPr>
          <p:cNvPr id="18" name="Gráfico 17" descr="SVG &gt; microscopio aumento laboratorio médico - Imagen e icono gratis de ...">
            <a:extLst>
              <a:ext uri="{FF2B5EF4-FFF2-40B4-BE49-F238E27FC236}">
                <a16:creationId xmlns:a16="http://schemas.microsoft.com/office/drawing/2014/main" id="{9B3CFB03-ABB8-2F45-8B43-957B6584EF0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615194" y="4424114"/>
            <a:ext cx="287438" cy="436442"/>
          </a:xfrm>
          <a:prstGeom prst="rect">
            <a:avLst/>
          </a:prstGeom>
        </p:spPr>
      </p:pic>
      <p:pic>
        <p:nvPicPr>
          <p:cNvPr id="20" name="Imagen 19" descr="Free illustration: Medal, Gold, Tape - Free Image on Pixabay - 2163195">
            <a:extLst>
              <a:ext uri="{FF2B5EF4-FFF2-40B4-BE49-F238E27FC236}">
                <a16:creationId xmlns:a16="http://schemas.microsoft.com/office/drawing/2014/main" id="{AC967E57-E26F-FC4F-86D9-FB8FE4D149B0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148332" y="5520988"/>
            <a:ext cx="653740" cy="629269"/>
          </a:xfrm>
          <a:prstGeom prst="rect">
            <a:avLst/>
          </a:prstGeom>
        </p:spPr>
      </p:pic>
      <p:pic>
        <p:nvPicPr>
          <p:cNvPr id="22" name="Imagen 21" descr="SVG &gt; mapa país tierra globo - Imagen e icono gratis de SVG. | SVG Silh">
            <a:extLst>
              <a:ext uri="{FF2B5EF4-FFF2-40B4-BE49-F238E27FC236}">
                <a16:creationId xmlns:a16="http://schemas.microsoft.com/office/drawing/2014/main" id="{2E6E0E62-5DE3-7540-8D33-D8647E2D5955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6988283" y="6363231"/>
            <a:ext cx="287439" cy="281460"/>
          </a:xfrm>
          <a:prstGeom prst="rect">
            <a:avLst/>
          </a:prstGeom>
        </p:spPr>
      </p:pic>
      <p:pic>
        <p:nvPicPr>
          <p:cNvPr id="26" name="Imagen 25" descr="Vector Illustration of Green Person vs Dollar Icon | Freestock icons">
            <a:extLst>
              <a:ext uri="{FF2B5EF4-FFF2-40B4-BE49-F238E27FC236}">
                <a16:creationId xmlns:a16="http://schemas.microsoft.com/office/drawing/2014/main" id="{24BFA65F-0599-F24C-9D02-34E6D6BF9D18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>
                        <a14:foregroundMark x1="49224" y1="37593" x2="50800" y2="89600"/>
                        <a14:foregroundMark x1="48958" y1="28800" x2="48988" y2="29801"/>
                        <a14:foregroundMark x1="48400" y1="10400" x2="48497" y2="13600"/>
                        <a14:backgroundMark x1="45600" y1="13600" x2="45600" y2="28800"/>
                        <a14:backgroundMark x1="45600" y1="28800" x2="48400" y2="13600"/>
                        <a14:backgroundMark x1="48400" y1="13600" x2="48400" y2="13600"/>
                        <a14:backgroundMark x1="43600" y1="36400" x2="46400" y2="35600"/>
                        <a14:backgroundMark x1="47200" y1="30400" x2="49200" y2="37600"/>
                        <a14:backgroundMark x1="47200" y1="13200" x2="45600" y2="13600"/>
                        <a14:backgroundMark x1="47200" y1="32800" x2="49200" y2="16800"/>
                        <a14:backgroundMark x1="49200" y1="16800" x2="48400" y2="152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rcRect l="-106691" t="2342" r="-133364" b="-20558"/>
          <a:stretch/>
        </p:blipFill>
        <p:spPr>
          <a:xfrm>
            <a:off x="7703120" y="6738680"/>
            <a:ext cx="1810160" cy="62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02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44680</TotalTime>
  <Words>340</Words>
  <Application>Microsoft Macintosh PowerPoint</Application>
  <PresentationFormat>Personalizado</PresentationFormat>
  <Paragraphs>44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Lucida Handwriting</vt:lpstr>
      <vt:lpstr>Century Gothic</vt:lpstr>
      <vt:lpstr>Radley</vt:lpstr>
      <vt:lpstr>Cabin</vt:lpstr>
      <vt:lpstr>Calibri</vt:lpstr>
      <vt:lpstr>Office Theme</vt:lpstr>
      <vt:lpstr>Presentación de PowerPoint</vt:lpstr>
      <vt:lpstr>                </vt:lpstr>
      <vt:lpstr>Presentación de PowerPoint</vt:lpstr>
      <vt:lpstr> 731 PARTICIPANTES  365 Médicos Pediatras  35 Médicos Generales 33 Enfermeras/Prof. De Salud 197 Estudiantes, Residentes e Internos 101 Líderes de las Industrias en Farmacias, Laboratorios, Hospitales, Comercios, y marcas afines.   Se logró la participación de 65 marcas patrocinadoras, de las cuales 41 marcas tuvieron exposición con stands comercial y 24 como socios estratégicos.    </vt:lpstr>
      <vt:lpstr> ¿A QUIÉNES LE LLEGAMOS EN EL 2026?  Nuestra audiencia está conformada por una comunidad diversa de profesionales de la salud, especialistas, ejecutivos y tomadores de decisiones. Profesionales de la salud: Pediatras,  Médicos Generales,  Médicos Residentes e Internos,  Enfermeras,  Nutricionistas y Especialistas en Pediatría, Autismo, Terapia infantil,  Salud y Seguridad Vial Dermatología, Oncología,  Manejo del dolor y  Salud mental. Líderes y tomadores de decisiones: Dueños y directores de clínicas, directores de hospitales públicos, gerentes generales, gerentes de país y líderes de las áreas de ventas y compras. Sectores empresariales: Laboratorios, bancos, centros médicos, clínicas pediátricas, industria automotriz, vacunas, y otras industrias relacionadas. Perfil etario: Audiencia amplia entre 25 y 65 años.  </vt:lpstr>
      <vt:lpstr> ASÍ VIVIMOS EL CONGRESO EN EL 2026  </vt:lpstr>
      <vt:lpstr>Presentación de PowerPoint</vt:lpstr>
      <vt:lpstr>CONCEPTO  Seguimos construyendo nuestro concepto FUTURO reafirmando el compromiso de proteger y contribuir a una mejor calidad de vida para nuestros niños, a través de la medicina.  Este año, damos un paso más, convocando otras especialidades e invitando colegas de la región a ser parte de este gran encuentro.  Porque la ciencia no tiene fronteras cuando unimos conocimientos y experiencias por un mismo propósito:  “Protegiendo el Futuro con Ciencia, Sin Fronteras”.</vt:lpstr>
      <vt:lpstr>Presentación de PowerPoint</vt:lpstr>
      <vt:lpstr>Presentación de PowerPoint</vt:lpstr>
      <vt:lpstr>TU APOYO HACE POSIBLE:      Educación médica contínua          Intercambio científico          Formación de nuevas generaciones          Reconocimiento al talento          Conexión regional y networking           Innovación  Los Aliados por el Futuro, son y serán quienes hacen posible, este gran evento.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Microsoft Office User</cp:lastModifiedBy>
  <cp:revision>174</cp:revision>
  <cp:lastPrinted>2026-09-23T16:40:47Z</cp:lastPrinted>
  <dcterms:modified xsi:type="dcterms:W3CDTF">2026-10-16T20:44:04Z</dcterms:modified>
</cp:coreProperties>
</file>